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89" r:id="rId5"/>
    <p:sldId id="288" r:id="rId6"/>
    <p:sldId id="276" r:id="rId7"/>
    <p:sldId id="283" r:id="rId8"/>
    <p:sldId id="261" r:id="rId9"/>
    <p:sldId id="257" r:id="rId10"/>
    <p:sldId id="264" r:id="rId11"/>
    <p:sldId id="265" r:id="rId12"/>
    <p:sldId id="263" r:id="rId13"/>
    <p:sldId id="268" r:id="rId14"/>
    <p:sldId id="290" r:id="rId15"/>
    <p:sldId id="262" r:id="rId16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1B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94" autoAdjust="0"/>
  </p:normalViewPr>
  <p:slideViewPr>
    <p:cSldViewPr snapToGrid="0">
      <p:cViewPr varScale="1">
        <p:scale>
          <a:sx n="42" d="100"/>
          <a:sy n="42" d="100"/>
        </p:scale>
        <p:origin x="54" y="3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80" d="100"/>
          <a:sy n="80" d="100"/>
        </p:scale>
        <p:origin x="3996" y="15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DA63CEE3-1E53-4904-B7C8-7FD6CACB5D77}" type="datetime1">
              <a:rPr lang="es-ES" smtClean="0"/>
              <a:t>24/05/2026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fld id="{5C694D8B-FFEA-4204-BB22-626A8A05557B}" type="datetime1">
              <a:rPr lang="es-ES" smtClean="0"/>
              <a:pPr/>
              <a:t>24/05/2026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CC5DA344-5FA2-43F7-9D95-CA56C82B08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C5DA344-5FA2-43F7-9D95-CA56C82B080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C5DA344-5FA2-43F7-9D95-CA56C82B080A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C5DA344-5FA2-43F7-9D95-CA56C82B080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C5DA344-5FA2-43F7-9D95-CA56C82B080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C5DA344-5FA2-43F7-9D95-CA56C82B080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C5DA344-5FA2-43F7-9D95-CA56C82B080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4047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C5DA344-5FA2-43F7-9D95-CA56C82B080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C5DA344-5FA2-43F7-9D95-CA56C82B080A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8769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C5DA344-5FA2-43F7-9D95-CA56C82B080A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C5DA344-5FA2-43F7-9D95-CA56C82B080A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1298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C5DA344-5FA2-43F7-9D95-CA56C82B080A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ítulo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ítulo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rtlCol="0" anchor="b" anchorCtr="0">
            <a:noAutofit/>
          </a:bodyPr>
          <a:lstStyle>
            <a:lvl1pPr algn="l">
              <a:defRPr lang="es-ES" sz="4400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 rtlCol="0">
            <a:normAutofit/>
          </a:bodyPr>
          <a:lstStyle>
            <a:lvl1pPr marL="0" indent="0" algn="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rtlCol="0"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lang="es-ES"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lang="es-ES"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lang="es-ES"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lang="es-ES"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lang="es-ES" sz="12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6D8061D-18C3-4F4F-85EF-561633F58754}" type="datetimeFigureOut">
              <a:rPr lang="es-ES" smtClean="0"/>
              <a:t>24/05/2026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ítulo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rtlCol="0" anchor="b">
            <a:noAutofit/>
          </a:bodyPr>
          <a:lstStyle>
            <a:lvl1pPr algn="ctr">
              <a:defRPr lang="es-ES" sz="44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 rtlCol="0">
            <a:no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rtlCol="0" anchor="b">
            <a:noAutofit/>
          </a:bodyPr>
          <a:lstStyle>
            <a:lvl1pPr algn="l">
              <a:defRPr lang="es-ES" sz="4400"/>
            </a:lvl1pPr>
          </a:lstStyle>
          <a:p>
            <a:pPr rtl="0"/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 rtlCol="0">
            <a:noAutofit/>
          </a:bodyPr>
          <a:lstStyle>
            <a:lvl1pPr marL="0" indent="0" algn="l">
              <a:buNone/>
              <a:defRPr lang="es-ES"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7" name="Marcador de posición de imagen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 rtlCol="0">
            <a:normAutofit/>
          </a:bodyPr>
          <a:lstStyle>
            <a:lvl1pPr marL="0" indent="0" algn="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1" name="Marcador de contenido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 rtlCol="0"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lang="es-ES" sz="1800"/>
            </a:lvl1pPr>
            <a:lvl2pPr>
              <a:spcBef>
                <a:spcPts val="1000"/>
              </a:spcBef>
              <a:spcAft>
                <a:spcPts val="1500"/>
              </a:spcAft>
              <a:defRPr lang="es-ES" sz="1800"/>
            </a:lvl2pPr>
            <a:lvl3pPr>
              <a:spcBef>
                <a:spcPts val="1000"/>
              </a:spcBef>
              <a:spcAft>
                <a:spcPts val="1500"/>
              </a:spcAft>
              <a:defRPr lang="es-ES" sz="1800"/>
            </a:lvl3pPr>
            <a:lvl4pPr>
              <a:spcBef>
                <a:spcPts val="1000"/>
              </a:spcBef>
              <a:spcAft>
                <a:spcPts val="1500"/>
              </a:spcAft>
              <a:defRPr lang="es-ES" sz="1800"/>
            </a:lvl4pPr>
            <a:lvl5pPr>
              <a:spcBef>
                <a:spcPts val="1000"/>
              </a:spcBef>
              <a:spcAft>
                <a:spcPts val="1500"/>
              </a:spcAft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 10">
            <a:extLst>
              <a:ext uri="{FF2B5EF4-FFF2-40B4-BE49-F238E27FC236}">
                <a16:creationId xmlns:a16="http://schemas.microsoft.com/office/drawing/2014/main" id="{C4293765-78A6-5206-26C2-E8817B283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>
              <a:ln>
                <a:noFill/>
              </a:ln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B4E351F-7451-86A3-5271-0D00B9E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A860223-A40E-30ED-6832-0825A930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00B6907E-F17B-783E-D454-DFC62D09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6B12211-7E94-9534-6F2D-2AFD2EBE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36580245-E985-EC3F-9385-D0F517F0C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B75A82A3-E3DF-978F-4BD7-10E0F107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9EDC40AE-D1CB-7535-22E2-E6D910FB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685800"/>
            <a:ext cx="9144000" cy="3136738"/>
          </a:xfrm>
        </p:spPr>
        <p:txBody>
          <a:bodyPr rtlCol="0" anchor="b">
            <a:noAutofit/>
          </a:bodyPr>
          <a:lstStyle>
            <a:lvl1pPr algn="ctr">
              <a:defRPr lang="es-ES" sz="44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78800"/>
            <a:ext cx="9144000" cy="1965960"/>
          </a:xfrm>
        </p:spPr>
        <p:txBody>
          <a:bodyPr rtlCol="0">
            <a:noAutofit/>
          </a:bodyPr>
          <a:lstStyle>
            <a:lvl1pPr marL="0" indent="0" algn="ctr">
              <a:buNone/>
              <a:defRPr lang="es-ES"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7" name="Marcador de contenido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lang="es-ES" sz="1800"/>
            </a:lvl1pPr>
            <a:lvl2pPr marL="0">
              <a:spcBef>
                <a:spcPts val="1000"/>
              </a:spcBef>
              <a:spcAft>
                <a:spcPts val="500"/>
              </a:spcAft>
              <a:defRPr lang="es-ES" sz="1800"/>
            </a:lvl2pPr>
            <a:lvl3pPr marL="457200">
              <a:spcBef>
                <a:spcPts val="1000"/>
              </a:spcBef>
              <a:spcAft>
                <a:spcPts val="500"/>
              </a:spcAft>
              <a:defRPr lang="es-ES" sz="1800"/>
            </a:lvl3pPr>
            <a:lvl4pPr marL="685800">
              <a:spcBef>
                <a:spcPts val="1000"/>
              </a:spcBef>
              <a:spcAft>
                <a:spcPts val="500"/>
              </a:spcAft>
              <a:defRPr lang="es-ES" sz="1800"/>
            </a:lvl4pPr>
            <a:lvl5pPr marL="914400">
              <a:spcBef>
                <a:spcPts val="1000"/>
              </a:spcBef>
              <a:spcAft>
                <a:spcPts val="500"/>
              </a:spcAft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5" name="Marcador de contenido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lang="es-ES" sz="1800"/>
            </a:lvl1pPr>
            <a:lvl2pPr marL="0">
              <a:spcBef>
                <a:spcPts val="1000"/>
              </a:spcBef>
              <a:spcAft>
                <a:spcPts val="500"/>
              </a:spcAft>
              <a:defRPr lang="es-ES" sz="1800"/>
            </a:lvl2pPr>
            <a:lvl3pPr marL="457200">
              <a:spcBef>
                <a:spcPts val="1000"/>
              </a:spcBef>
              <a:spcAft>
                <a:spcPts val="500"/>
              </a:spcAft>
              <a:defRPr lang="es-ES" sz="1800"/>
            </a:lvl3pPr>
            <a:lvl4pPr marL="685800">
              <a:spcBef>
                <a:spcPts val="1000"/>
              </a:spcBef>
              <a:spcAft>
                <a:spcPts val="500"/>
              </a:spcAft>
              <a:defRPr lang="es-ES" sz="1800"/>
            </a:lvl4pPr>
            <a:lvl5pPr marL="914400">
              <a:spcBef>
                <a:spcPts val="1000"/>
              </a:spcBef>
              <a:spcAft>
                <a:spcPts val="500"/>
              </a:spcAft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6D8061D-18C3-4F4F-85EF-561633F58754}" type="datetimeFigureOut">
              <a:rPr lang="es-ES" smtClean="0"/>
              <a:t>24/05/2026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FDD9208B-0FD2-A7E3-5202-0F18392AE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04010E2-9C6F-C582-1E3A-F5D43D0F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3D2B8AF-94DE-C211-EAE7-0971C111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247A2AC-F284-077E-9A14-EB7D1DE6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0E91F1F-5151-2442-2B89-CE0AB117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3FBD82AC-3C5B-819E-E0FF-157D74B8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7F299648-2E6E-FA0D-85E4-8884BE34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7" name="Marcador de contenido 3">
            <a:extLst>
              <a:ext uri="{FF2B5EF4-FFF2-40B4-BE49-F238E27FC236}">
                <a16:creationId xmlns:a16="http://schemas.microsoft.com/office/drawing/2014/main" id="{07BD0263-5D42-E696-F170-1F9CF5FF2A7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8199" y="2078963"/>
            <a:ext cx="3435628" cy="4067492"/>
          </a:xfrm>
        </p:spPr>
        <p:txBody>
          <a:bodyPr rtlCol="0"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lang="es-ES"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lang="es-ES"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lang="es-ES"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lang="es-ES"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6" name="Marcador de contenido 3">
            <a:extLst>
              <a:ext uri="{FF2B5EF4-FFF2-40B4-BE49-F238E27FC236}">
                <a16:creationId xmlns:a16="http://schemas.microsoft.com/office/drawing/2014/main" id="{1BEE7174-135F-6F9F-11B9-3C3F2F9CDE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65539" y="2087315"/>
            <a:ext cx="6007261" cy="406749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lang="es-ES" sz="1800"/>
            </a:lvl1pPr>
            <a:lvl2pPr marL="0">
              <a:spcBef>
                <a:spcPts val="1000"/>
              </a:spcBef>
              <a:spcAft>
                <a:spcPts val="500"/>
              </a:spcAft>
              <a:defRPr lang="es-ES" sz="1800"/>
            </a:lvl2pPr>
            <a:lvl3pPr marL="457200">
              <a:spcBef>
                <a:spcPts val="1000"/>
              </a:spcBef>
              <a:spcAft>
                <a:spcPts val="500"/>
              </a:spcAft>
              <a:defRPr lang="es-ES" sz="1800"/>
            </a:lvl3pPr>
            <a:lvl4pPr marL="685800">
              <a:spcBef>
                <a:spcPts val="1000"/>
              </a:spcBef>
              <a:spcAft>
                <a:spcPts val="500"/>
              </a:spcAft>
              <a:defRPr lang="es-ES" sz="1800"/>
            </a:lvl4pPr>
            <a:lvl5pPr marL="914400">
              <a:spcBef>
                <a:spcPts val="1000"/>
              </a:spcBef>
              <a:spcAft>
                <a:spcPts val="500"/>
              </a:spcAft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6D8061D-18C3-4F4F-85EF-561633F58754}" type="datetimeFigureOut">
              <a:rPr lang="es-ES" smtClean="0"/>
              <a:t>24/05/2026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image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/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lang="es-ES" sz="1800"/>
            </a:lvl1pPr>
            <a:lvl2pPr>
              <a:spcBef>
                <a:spcPts val="1000"/>
              </a:spcBef>
              <a:spcAft>
                <a:spcPts val="500"/>
              </a:spcAft>
              <a:defRPr lang="es-ES" sz="1600"/>
            </a:lvl2pPr>
            <a:lvl3pPr>
              <a:spcBef>
                <a:spcPts val="1000"/>
              </a:spcBef>
              <a:spcAft>
                <a:spcPts val="500"/>
              </a:spcAft>
              <a:defRPr lang="es-ES" sz="1400"/>
            </a:lvl3pPr>
            <a:lvl4pPr>
              <a:spcBef>
                <a:spcPts val="1000"/>
              </a:spcBef>
              <a:spcAft>
                <a:spcPts val="500"/>
              </a:spcAft>
              <a:defRPr lang="es-ES" sz="1200"/>
            </a:lvl4pPr>
            <a:lvl5pPr>
              <a:spcBef>
                <a:spcPts val="1000"/>
              </a:spcBef>
              <a:spcAft>
                <a:spcPts val="500"/>
              </a:spcAft>
              <a:defRPr lang="es-ES" sz="12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6D8061D-18C3-4F4F-85EF-561633F58754}" type="datetimeFigureOut">
              <a:rPr lang="es-ES" smtClean="0"/>
              <a:t>24/05/2026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C45A11E-9896-BD8B-8CC6-A79C124D8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386022B-53D6-6CE0-2093-873FC64A5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0BD4BD8F-684C-A145-3376-9E69B0E5B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6E7C1DA9-2A25-EE21-085B-8857DC1AD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F236BB3-E567-A8A9-5EC2-BCEF79CFC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D4A87C9F-C765-C63C-951E-70721DDAC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74425665-0C9C-3899-9DB9-ED05D91E2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330405" cy="1325563"/>
          </a:xfrm>
        </p:spPr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137059"/>
            <a:ext cx="2816352" cy="3986246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lang="es-ES" sz="1800"/>
            </a:lvl1pPr>
            <a:lvl2pPr>
              <a:spcBef>
                <a:spcPts val="1000"/>
              </a:spcBef>
              <a:spcAft>
                <a:spcPts val="500"/>
              </a:spcAft>
              <a:defRPr lang="es-ES" sz="1600"/>
            </a:lvl2pPr>
            <a:lvl3pPr>
              <a:spcBef>
                <a:spcPts val="1000"/>
              </a:spcBef>
              <a:spcAft>
                <a:spcPts val="500"/>
              </a:spcAft>
              <a:defRPr lang="es-ES" sz="1400"/>
            </a:lvl3pPr>
            <a:lvl4pPr>
              <a:spcBef>
                <a:spcPts val="1000"/>
              </a:spcBef>
              <a:spcAft>
                <a:spcPts val="500"/>
              </a:spcAft>
              <a:defRPr lang="es-ES" sz="1200"/>
            </a:lvl4pPr>
            <a:lvl5pPr>
              <a:spcBef>
                <a:spcPts val="1000"/>
              </a:spcBef>
              <a:spcAft>
                <a:spcPts val="500"/>
              </a:spcAft>
              <a:defRPr lang="es-ES" sz="12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09014" y="2137059"/>
            <a:ext cx="7059592" cy="398624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 dirty="0"/>
            </a:lvl1pPr>
          </a:lstStyle>
          <a:p>
            <a:pPr rtl="0"/>
            <a:r>
              <a:rPr lang="es-ES"/>
              <a:t>Haga clic en el icono para agregar una tabla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6D8061D-18C3-4F4F-85EF-561633F58754}" type="datetimeFigureOut">
              <a:rPr lang="es-ES" smtClean="0"/>
              <a:t>24/05/2026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49C8ABD-000F-7A94-A7B0-9589F4FEF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DC3A554-E5A9-B3CB-913D-45DBFBA7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4E3A8DF3-F55A-2494-C55D-8FB94BBC6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779DC86E-6F8A-B036-5CB2-AA8A79837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9B9E0C03-C633-9356-4E28-678BAB7A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20C8A4F7-6C4C-719B-298F-3B81223D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2E7E5D8B-D6BC-19AE-C0C9-249A55617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5" name="Marcador de contenido 3">
            <a:extLst>
              <a:ext uri="{FF2B5EF4-FFF2-40B4-BE49-F238E27FC236}">
                <a16:creationId xmlns:a16="http://schemas.microsoft.com/office/drawing/2014/main" id="{7A6C5266-7ECA-B150-2C0F-8670F43AC82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8200" y="1987669"/>
            <a:ext cx="6974711" cy="4297679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lang="es-ES" sz="1800"/>
            </a:lvl1pPr>
            <a:lvl2pPr>
              <a:spcBef>
                <a:spcPts val="1000"/>
              </a:spcBef>
              <a:spcAft>
                <a:spcPts val="500"/>
              </a:spcAft>
              <a:defRPr lang="es-ES" sz="1800"/>
            </a:lvl2pPr>
            <a:lvl3pPr>
              <a:spcBef>
                <a:spcPts val="1000"/>
              </a:spcBef>
              <a:spcAft>
                <a:spcPts val="500"/>
              </a:spcAft>
              <a:defRPr lang="es-ES" sz="1800"/>
            </a:lvl3pPr>
            <a:lvl4pPr>
              <a:spcBef>
                <a:spcPts val="1000"/>
              </a:spcBef>
              <a:spcAft>
                <a:spcPts val="500"/>
              </a:spcAft>
              <a:defRPr lang="es-ES" sz="1800"/>
            </a:lvl4pPr>
            <a:lvl5pPr>
              <a:spcBef>
                <a:spcPts val="1000"/>
              </a:spcBef>
              <a:spcAft>
                <a:spcPts val="500"/>
              </a:spcAft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17085" y="1987670"/>
            <a:ext cx="3436716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lang="es-ES" sz="1800"/>
            </a:lvl1pPr>
            <a:lvl2pPr>
              <a:spcBef>
                <a:spcPts val="1000"/>
              </a:spcBef>
              <a:spcAft>
                <a:spcPts val="500"/>
              </a:spcAft>
              <a:defRPr lang="es-ES" sz="1600"/>
            </a:lvl2pPr>
            <a:lvl3pPr>
              <a:spcBef>
                <a:spcPts val="1000"/>
              </a:spcBef>
              <a:spcAft>
                <a:spcPts val="500"/>
              </a:spcAft>
              <a:defRPr lang="es-ES" sz="1400"/>
            </a:lvl3pPr>
            <a:lvl4pPr>
              <a:spcBef>
                <a:spcPts val="1000"/>
              </a:spcBef>
              <a:spcAft>
                <a:spcPts val="500"/>
              </a:spcAft>
              <a:defRPr lang="es-ES" sz="1200"/>
            </a:lvl4pPr>
            <a:lvl5pPr>
              <a:spcBef>
                <a:spcPts val="1000"/>
              </a:spcBef>
              <a:spcAft>
                <a:spcPts val="500"/>
              </a:spcAft>
              <a:defRPr lang="es-ES" sz="12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6D8061D-18C3-4F4F-85EF-561633F58754}" type="datetimeFigureOut">
              <a:rPr lang="es-ES" smtClean="0"/>
              <a:t>24/05/2026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37588714-FE55-FCEF-78C2-2A4D11ECD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BAF6BF02-4CD8-261B-BE58-05677EB9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1AF1F17-7A1F-BCA2-15C0-417928B4E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FF0ADE0B-D150-E72B-EE9A-E5EFDBC6F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BBCDD5A-A3C4-DF4F-74AD-CAF0F465B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9430AE4-C878-DFAB-EDA5-36B97176D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61487B2-0348-2FFC-03FB-6508B6FD3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2125262"/>
            <a:ext cx="10515600" cy="3675944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tabla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6D8061D-18C3-4F4F-85EF-561633F58754}" type="datetimeFigureOut">
              <a:rPr lang="es-ES" smtClean="0"/>
              <a:t>24/05/2026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 rtlCol="0">
            <a:normAutofit/>
          </a:bodyPr>
          <a:lstStyle>
            <a:lvl1pPr marL="0" indent="0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rtlCol="0" anchor="b">
            <a:noAutofit/>
          </a:bodyPr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rtlCol="0"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lang="es-ES"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lang="es-ES"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lang="es-ES"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lang="es-ES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D6D8061D-18C3-4F4F-85EF-561633F58754}" type="datetimeFigureOut">
              <a:rPr lang="es-ES" smtClean="0"/>
              <a:t>24/05/2026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59" r:id="rId4"/>
    <p:sldLayoutId id="2147483650" r:id="rId5"/>
    <p:sldLayoutId id="2147483649" r:id="rId6"/>
    <p:sldLayoutId id="2147483662" r:id="rId7"/>
    <p:sldLayoutId id="2147483663" r:id="rId8"/>
    <p:sldLayoutId id="2147483652" r:id="rId9"/>
    <p:sldLayoutId id="2147483666" r:id="rId10"/>
    <p:sldLayoutId id="2147483664" r:id="rId11"/>
    <p:sldLayoutId id="2147483665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000" i="1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4453" y="319177"/>
            <a:ext cx="6288657" cy="1454807"/>
          </a:xfrm>
        </p:spPr>
        <p:txBody>
          <a:bodyPr rtlCol="0"/>
          <a:lstStyle>
            <a:defPPr>
              <a:defRPr lang="es-ES"/>
            </a:defPPr>
          </a:lstStyle>
          <a:p>
            <a:pPr algn="ctr" rtl="0">
              <a:lnSpc>
                <a:spcPct val="100000"/>
              </a:lnSpc>
            </a:pPr>
            <a:r>
              <a:rPr lang="es-E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Tahona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dirty="0">
                <a:solidFill>
                  <a:srgbClr val="6A1B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Recetas de Origen</a:t>
            </a:r>
          </a:p>
        </p:txBody>
      </p:sp>
      <p:pic>
        <p:nvPicPr>
          <p:cNvPr id="15" name="Marcador de posición de imagen 14">
            <a:extLst>
              <a:ext uri="{FF2B5EF4-FFF2-40B4-BE49-F238E27FC236}">
                <a16:creationId xmlns:a16="http://schemas.microsoft.com/office/drawing/2014/main" id="{806A4F25-CC5D-F64F-A3C8-88614C4E475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2323" b="12323"/>
          <a:stretch/>
        </p:blipFill>
        <p:spPr>
          <a:xfrm>
            <a:off x="5613400" y="0"/>
            <a:ext cx="6578600" cy="6894513"/>
          </a:xfr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7FF48C2F-7D17-7C65-B185-4DBE04D3F12E}"/>
              </a:ext>
            </a:extLst>
          </p:cNvPr>
          <p:cNvSpPr txBox="1"/>
          <p:nvPr/>
        </p:nvSpPr>
        <p:spPr>
          <a:xfrm>
            <a:off x="293299" y="4632385"/>
            <a:ext cx="22083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Jose Perez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Nicolas Correa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Alejandro Bonilla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Angie Fajardo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Daniel Ortiz</a:t>
            </a:r>
            <a:endParaRPr lang="es-MX" sz="16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422BEA2-BF16-6209-0402-04942012A682}"/>
              </a:ext>
            </a:extLst>
          </p:cNvPr>
          <p:cNvSpPr txBox="1"/>
          <p:nvPr/>
        </p:nvSpPr>
        <p:spPr>
          <a:xfrm>
            <a:off x="1319842" y="1906438"/>
            <a:ext cx="463238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Fundación Universitaria Compensar</a:t>
            </a:r>
          </a:p>
          <a:p>
            <a:pPr algn="ctr"/>
            <a:endParaRPr lang="es-CO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CO" sz="16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Facultad de Ingeniería de software</a:t>
            </a:r>
          </a:p>
          <a:p>
            <a:pPr algn="ctr"/>
            <a:endParaRPr lang="es-CO" sz="16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CO" sz="16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Materia: Fundamentos de Construcción de Software</a:t>
            </a:r>
            <a:endParaRPr lang="es-MX" sz="16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EB15403-66B8-0B3A-DD50-CE0EF2BA7DFE}"/>
              </a:ext>
            </a:extLst>
          </p:cNvPr>
          <p:cNvSpPr txBox="1"/>
          <p:nvPr/>
        </p:nvSpPr>
        <p:spPr>
          <a:xfrm>
            <a:off x="2501661" y="4892918"/>
            <a:ext cx="3631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Profesora: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Eliana Marcela Páez Perdomo</a:t>
            </a:r>
            <a:endParaRPr lang="es-MX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3649" y="129724"/>
            <a:ext cx="4718649" cy="5617194"/>
          </a:xfrm>
          <a:noFill/>
        </p:spPr>
        <p:txBody>
          <a:bodyPr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Tahona Recetas de Origen. Es una panadería y pastelería artesanal estilo europea que vende principalmente a domicilio. Con el tiempo paso de ser una empresa pequeña a mediana, y a medida que crecía también se hizo mas evidente un problema: la gestión manual de pedidos, facturación e inventario.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6A55713-B6C8-7F63-E09D-5BEAE8BF2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2298" y="-1"/>
            <a:ext cx="3129702" cy="342899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983EC07-C4DE-FAA1-A11E-C92821AB63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2298" y="3429000"/>
            <a:ext cx="3129702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2640"/>
            <a:ext cx="9144000" cy="1689529"/>
          </a:xfrm>
          <a:noFill/>
        </p:spPr>
        <p:txBody>
          <a:bodyPr rtlCol="0" anchor="b"/>
          <a:lstStyle>
            <a:defPPr>
              <a:defRPr lang="es-ES"/>
            </a:defPPr>
          </a:lstStyle>
          <a:p>
            <a:pPr rtl="0">
              <a:lnSpc>
                <a:spcPct val="100000"/>
              </a:lnSpc>
            </a:pP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problema de </a:t>
            </a:r>
            <a:r>
              <a:rPr lang="es-E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Tahona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553DBAB-7300-8727-D3BD-16DE727C1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33645"/>
            <a:ext cx="3648710" cy="292435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F527717-9AA6-04FC-65C0-42F2EA69E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4109" y="3933644"/>
            <a:ext cx="2897891" cy="292435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102D530-A758-9120-2CA7-465B5DDB0B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8710" y="3933644"/>
            <a:ext cx="3355939" cy="292435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5B83C815-3E1D-E1D7-84FB-F391180F85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4648" y="3933643"/>
            <a:ext cx="2289461" cy="292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2860" y="528320"/>
            <a:ext cx="6814868" cy="1524767"/>
          </a:xfrm>
          <a:noFill/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Errores de Gestión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8853" y="2226853"/>
            <a:ext cx="5028565" cy="646976"/>
          </a:xfrm>
          <a:noFill/>
        </p:spPr>
        <p:txBody>
          <a:bodyPr rtlCol="0" anchor="t"/>
          <a:lstStyle>
            <a:defPPr>
              <a:defRPr lang="es-ES"/>
            </a:defPPr>
          </a:lstStyle>
          <a:p>
            <a:pPr algn="ctr" rtl="0"/>
            <a:r>
              <a:rPr lang="es-ES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 de Pedidos, Facturación y Despacho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F51B606E-5A10-1E33-8D03-BFFB97717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497683" y="4163683"/>
            <a:ext cx="1401741" cy="398689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2E5F712C-8EFB-48E8-9A06-AD21956BB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5107" y="2773017"/>
            <a:ext cx="3986893" cy="269761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5816D583-5E01-18E4-417F-FEF32F0FDC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107" y="0"/>
            <a:ext cx="3986893" cy="2773017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E1B7959B-7E6A-0235-5D57-D73258215342}"/>
              </a:ext>
            </a:extLst>
          </p:cNvPr>
          <p:cNvSpPr txBox="1"/>
          <p:nvPr/>
        </p:nvSpPr>
        <p:spPr>
          <a:xfrm>
            <a:off x="672860" y="3243538"/>
            <a:ext cx="5674178" cy="2140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CO" sz="1600" kern="10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Esta empresa funciona a través de las ventas a domicilio y un modelo de producto solicitado producto que entra a producción (no se hacen productos si no han sido solicitados), por lo que todos los pedidos se reciben a través de llamada o WhatsApp y luego son ingresados en hoja de producción, y hoja de despacho (Cada cosa se hace manualmente y por separado).</a:t>
            </a:r>
            <a:endParaRPr lang="es-MX" sz="1600" kern="100" dirty="0">
              <a:solidFill>
                <a:schemeClr val="accent3">
                  <a:lumMod val="75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Lo cual provoca que cada venta sea ingresada individualmente.</a:t>
            </a:r>
            <a:endParaRPr lang="es-CO" sz="16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116" y="556337"/>
            <a:ext cx="7871197" cy="596674"/>
          </a:xfrm>
          <a:noFill/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Consecuencias que conlleva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>
                <a:solidFill>
                  <a:srgbClr val="6A1B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Perdidas de Información: 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Errores humanos que conlleva a la perdida de ventas.</a:t>
            </a:r>
          </a:p>
          <a:p>
            <a:pPr rtl="0"/>
            <a:r>
              <a:rPr lang="es-ES" dirty="0">
                <a:solidFill>
                  <a:srgbClr val="6A1B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Retrasos en producción: 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el producto no se ingresa o es ingresado incorrectamente provoca retrasos mientras se valida la información del producto o peor que toque volver a realizar este.</a:t>
            </a:r>
            <a:endParaRPr lang="es-ES" dirty="0">
              <a:solidFill>
                <a:srgbClr val="6A1B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r>
              <a:rPr lang="es-ES" dirty="0">
                <a:solidFill>
                  <a:srgbClr val="6A1B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Retrasos en despacho: 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el producto no esta listo a tiempo provoca un retraso en toda el área de despacho.</a:t>
            </a:r>
          </a:p>
          <a:p>
            <a:pPr rtl="0"/>
            <a:r>
              <a:rPr lang="es-ES" dirty="0">
                <a:solidFill>
                  <a:srgbClr val="6A1B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Perdidas de ventas y de clientes: 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Debido a insatisfacciones en el servicio provoca el desinterés del cliente y que desista de volver a adquirir un producto de esta empresa.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9EC7289-1814-D1C5-6AE3-A8EC1CEEF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08739"/>
            <a:ext cx="3575957" cy="22492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CB3C318-4DC8-7A4B-BA32-3F7008EDD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20758"/>
            <a:ext cx="3575957" cy="258798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BEAC358-7EEC-C41B-1EB3-57E17AFA50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575956" cy="202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7523" y="1115714"/>
            <a:ext cx="9540240" cy="943338"/>
          </a:xfrm>
          <a:noFill/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solución al problema</a:t>
            </a:r>
          </a:p>
        </p:txBody>
      </p:sp>
      <p:pic>
        <p:nvPicPr>
          <p:cNvPr id="5" name="Imagen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91B6F561-53F6-51C7-543E-2FCD802D8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1870" y="2700477"/>
            <a:ext cx="6208259" cy="405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7794"/>
            <a:ext cx="10515600" cy="745065"/>
          </a:xfrm>
          <a:noFill/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Aplicación de Gestión de Inventario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12496" y="1199906"/>
            <a:ext cx="4406511" cy="4809008"/>
          </a:xfrm>
          <a:solidFill>
            <a:schemeClr val="bg1"/>
          </a:solidFill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 en crear un programa el cual integre los requerimientos solicitados por la empresa 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Tahona Recetas de origen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los cuales son:</a:t>
            </a:r>
          </a:p>
          <a:p>
            <a:pPr lvl="1" rtl="0"/>
            <a:r>
              <a:rPr lang="es-E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implementación de una pagina web.</a:t>
            </a:r>
          </a:p>
          <a:p>
            <a:pPr lvl="1"/>
            <a:r>
              <a:rPr lang="es-E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Sistema centralizado de gestiona miento de pedidos, que incluya:</a:t>
            </a:r>
          </a:p>
          <a:p>
            <a:pPr lvl="2"/>
            <a:r>
              <a:rPr lang="es-E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 de pedidos por los medios tradicionales.</a:t>
            </a:r>
          </a:p>
          <a:p>
            <a:pPr lvl="2"/>
            <a:r>
              <a:rPr lang="es-E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Gestión automática de hoja de producción y despacho.</a:t>
            </a:r>
          </a:p>
          <a:p>
            <a:pPr lvl="2"/>
            <a:r>
              <a:rPr lang="es-E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Facturación electrónica.</a:t>
            </a:r>
          </a:p>
          <a:p>
            <a:pPr lvl="2"/>
            <a:r>
              <a:rPr lang="es-E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Gestión de Inventario de materias primas.			</a:t>
            </a:r>
            <a:br>
              <a:rPr lang="es-E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n 8" descr="Interfaz de usuario gráfica">
            <a:extLst>
              <a:ext uri="{FF2B5EF4-FFF2-40B4-BE49-F238E27FC236}">
                <a16:creationId xmlns:a16="http://schemas.microsoft.com/office/drawing/2014/main" id="{B237C58B-DFB5-A992-211E-FC3E401D0E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094" y="1526720"/>
            <a:ext cx="5625410" cy="367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¿Cómo funcionaria?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302BFD-960F-CBB3-E984-CDC12813A10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8200" y="2430027"/>
            <a:ext cx="4803322" cy="2509366"/>
          </a:xfrm>
          <a:noFill/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Multiplataforma Android, IOS, Windows.</a:t>
            </a:r>
            <a:br>
              <a:rPr lang="es-E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r>
              <a:rPr lang="es-E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Enlazada con la pagina web.</a:t>
            </a:r>
            <a:br>
              <a:rPr lang="es-E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r>
              <a:rPr lang="es-E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Sugerencias y automatización de funciones con ayuda de Inteligencia Artificial Integrada.</a:t>
            </a:r>
          </a:p>
          <a:p>
            <a:pPr rtl="0"/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C23FAC7-447D-33B0-802A-FA67C0FE3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480" y="2073729"/>
            <a:ext cx="3890290" cy="414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  <a:noFill/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Funciones Principales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2055813"/>
            <a:ext cx="5781261" cy="613908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Principalmente son 4 funciones las cuales se van a explicar mas detalladamente a continuación: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9A2D0FB-F4AA-4B57-2C4E-DE8641805F01}"/>
              </a:ext>
            </a:extLst>
          </p:cNvPr>
          <p:cNvSpPr txBox="1"/>
          <p:nvPr/>
        </p:nvSpPr>
        <p:spPr>
          <a:xfrm>
            <a:off x="838199" y="3012620"/>
            <a:ext cx="26071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Ingreso de Pedidos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Facturación integrada</a:t>
            </a:r>
            <a:endParaRPr lang="es-MX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99ED4-D4CB-F423-443D-4AB52FF4379E}"/>
              </a:ext>
            </a:extLst>
          </p:cNvPr>
          <p:cNvSpPr txBox="1"/>
          <p:nvPr/>
        </p:nvSpPr>
        <p:spPr>
          <a:xfrm>
            <a:off x="3829050" y="3020786"/>
            <a:ext cx="2686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Hoja de Producción y despacho.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de Inventario.</a:t>
            </a:r>
            <a:endParaRPr lang="es-MX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169D440-0B1F-0ACC-615F-3F7DECD05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854" y="792645"/>
            <a:ext cx="4650375" cy="505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¿Cuál seria su alcance?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32953"/>
            <a:ext cx="4460421" cy="3137068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software principalmente esta diseñado para el tamaño actual de la empresa, pero eso no significa que este no pueda ser escalable, esta diseñado de manera centralizada para que a medida que crezca la empresa también lo pueda hacer el software, con el fin de apoyar y aumentar la eficiencia de esta.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A49C1A5-2D0A-C147-B03F-25A48721E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323" y="933546"/>
            <a:ext cx="4819905" cy="513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7F2A7AC0-9758-2184-7A8B-53C1EC63E91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2577" r="-2" b="-2"/>
          <a:stretch>
            <a:fillRect/>
          </a:stretch>
        </p:blipFill>
        <p:spPr>
          <a:xfrm>
            <a:off x="3810" y="10"/>
            <a:ext cx="7816995" cy="685799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797E1FA-FF7E-488D-E4CF-1AD584704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</p:spPr>
        <p:txBody>
          <a:bodyPr anchor="b">
            <a:normAutofit/>
          </a:bodyPr>
          <a:lstStyle/>
          <a:p>
            <a:r>
              <a:rPr lang="es-ES" b="1"/>
              <a:t>derechos de autor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A70AF0-0F34-D076-975A-DC5CF799C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992" y="4373217"/>
            <a:ext cx="4902843" cy="1753221"/>
          </a:xfrm>
        </p:spPr>
        <p:txBody>
          <a:bodyPr anchor="t">
            <a:normAutofit/>
          </a:bodyPr>
          <a:lstStyle/>
          <a:p>
            <a:r>
              <a:rPr lang="es-419" dirty="0"/>
              <a:t>Este proyecto de software, desarrollado para la empresa tahona recetas de origen, se encuentra protegido por las normas de propiedad intelectual y derechos de autor vigente.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56535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rtlCol="0" anchor="b"/>
          <a:lstStyle>
            <a:defPPr>
              <a:defRPr lang="es-ES"/>
            </a:defPPr>
          </a:lstStyle>
          <a:p>
            <a:pPr rtl="0"/>
            <a:r>
              <a:rPr lang="es-E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MUCHAS GRACIAS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992" y="4373217"/>
            <a:ext cx="4902843" cy="678843"/>
          </a:xfrm>
          <a:noFill/>
        </p:spPr>
        <p:txBody>
          <a:bodyPr rtlCol="0" anchor="t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CO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Instagram. </a:t>
            </a:r>
            <a:endParaRPr lang="es-ES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4AF2B0A3-8A7A-6022-A0CF-90462EEF2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55080" cy="685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7CF258D-EE12-BEC4-9F9F-44C46E6E1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712638"/>
            <a:ext cx="1647058" cy="167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43">
      <a:dk1>
        <a:srgbClr val="000000"/>
      </a:dk1>
      <a:lt1>
        <a:srgbClr val="FFFFFF"/>
      </a:lt1>
      <a:dk2>
        <a:srgbClr val="EFEBEB"/>
      </a:dk2>
      <a:lt2>
        <a:srgbClr val="E8E8E8"/>
      </a:lt2>
      <a:accent1>
        <a:srgbClr val="001D2E"/>
      </a:accent1>
      <a:accent2>
        <a:srgbClr val="145766"/>
      </a:accent2>
      <a:accent3>
        <a:srgbClr val="B99B9F"/>
      </a:accent3>
      <a:accent4>
        <a:srgbClr val="A47930"/>
      </a:accent4>
      <a:accent5>
        <a:srgbClr val="0C577C"/>
      </a:accent5>
      <a:accent6>
        <a:srgbClr val="CC836D"/>
      </a:accent6>
      <a:hlink>
        <a:srgbClr val="467886"/>
      </a:hlink>
      <a:folHlink>
        <a:srgbClr val="96607D"/>
      </a:folHlink>
    </a:clrScheme>
    <a:fontScheme name="Custom 98">
      <a:majorFont>
        <a:latin typeface="Walbaum Display Light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ngle lines design_Win32_SL_V15" id="{7EDC6EF7-8AD3-4A22-B09A-9C2D96F216F8}" vid="{B0E828C9-6219-42BF-B63C-156B68E5CCE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846AD4-435D-4592-8088-FE2831A30D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6283731-47E9-4F14-86D1-57C1EA2672A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4D4B218-C04B-41F5-949D-06E9DAE96B0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484</TotalTime>
  <Words>541</Words>
  <Application>Microsoft Office PowerPoint</Application>
  <PresentationFormat>Panorámica</PresentationFormat>
  <Paragraphs>67</Paragraphs>
  <Slides>12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Times New Roman</vt:lpstr>
      <vt:lpstr>Univers Light</vt:lpstr>
      <vt:lpstr>Walbaum Display Light</vt:lpstr>
      <vt:lpstr>AngleLinesVTI</vt:lpstr>
      <vt:lpstr>Tahona  Recetas de Origen</vt:lpstr>
      <vt:lpstr>Introducción</vt:lpstr>
      <vt:lpstr>El problema de Tahona</vt:lpstr>
      <vt:lpstr>Errores de Gestión</vt:lpstr>
      <vt:lpstr>Consecuencias que conlleva</vt:lpstr>
      <vt:lpstr>La solución al problema</vt:lpstr>
      <vt:lpstr>Aplicación de Gestión de Inventario</vt:lpstr>
      <vt:lpstr>¿Cómo funcionaria?</vt:lpstr>
      <vt:lpstr>Funciones Principales</vt:lpstr>
      <vt:lpstr>¿Cuál seria su alcance?</vt:lpstr>
      <vt:lpstr>derechos de autor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Perez</dc:creator>
  <cp:lastModifiedBy>deisy liliana gomez</cp:lastModifiedBy>
  <cp:revision>5</cp:revision>
  <dcterms:created xsi:type="dcterms:W3CDTF">2026-04-27T00:31:54Z</dcterms:created>
  <dcterms:modified xsi:type="dcterms:W3CDTF">2026-05-25T02:51:51Z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